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279" r:id="rId4"/>
    <p:sldId id="260" r:id="rId5"/>
    <p:sldId id="282" r:id="rId6"/>
    <p:sldId id="281" r:id="rId7"/>
    <p:sldId id="280" r:id="rId8"/>
    <p:sldId id="283" r:id="rId9"/>
    <p:sldId id="262" r:id="rId10"/>
    <p:sldId id="263" r:id="rId11"/>
    <p:sldId id="288" r:id="rId12"/>
    <p:sldId id="289" r:id="rId13"/>
    <p:sldId id="291" r:id="rId14"/>
    <p:sldId id="290" r:id="rId15"/>
    <p:sldId id="284" r:id="rId16"/>
    <p:sldId id="286" r:id="rId17"/>
    <p:sldId id="287" r:id="rId18"/>
    <p:sldId id="285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4" y="11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1C098-41FF-412D-8712-FE952CB890D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D5A73-6828-4814-8484-B993C9314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03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0D5A73-6828-4814-8484-B993C9314F4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881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898"/>
            <a:ext cx="8245736" cy="583106"/>
          </a:xfrm>
        </p:spPr>
        <p:txBody>
          <a:bodyPr>
            <a:normAutofit/>
          </a:bodyPr>
          <a:lstStyle>
            <a:lvl1pPr>
              <a:defRPr sz="28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6093"/>
            <a:ext cx="8229600" cy="5058508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365729"/>
            <a:ext cx="335280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365729"/>
            <a:ext cx="762000" cy="365125"/>
          </a:xfrm>
        </p:spPr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56028" y="6365729"/>
            <a:ext cx="1780735" cy="365125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ko-KR"/>
            </a:defPPr>
            <a:lvl1pPr marL="0" algn="ctr" defTabSz="914400" rtl="0" eaLnBrk="1" latinLnBrk="0" hangingPunct="1">
              <a:defRPr kumimoji="0" sz="1200" kern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컴퓨터공학과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23" y="6440611"/>
            <a:ext cx="391697" cy="3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 descr="C:\Program Files (x86)\Microsoft Office\MEDIA\OFFICE14\Lines\BD21322_.gif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52" y="1057718"/>
            <a:ext cx="8257741" cy="5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224" y="84213"/>
            <a:ext cx="1602441" cy="25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ko-KR" altLang="en-US"/>
              <a:t>소프트웨어공학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BC4C268-C3E8-4101-AE3B-AD777EB12DDA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1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1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1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1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34924" y="1371600"/>
            <a:ext cx="7851648" cy="984325"/>
          </a:xfrm>
        </p:spPr>
        <p:txBody>
          <a:bodyPr>
            <a:normAutofit/>
          </a:bodyPr>
          <a:lstStyle/>
          <a:p>
            <a:pPr algn="ctr"/>
            <a:r>
              <a:rPr lang="ko-KR" altLang="en-US" sz="4400"/>
              <a:t>소프트웨어공학</a:t>
            </a:r>
            <a:endParaRPr lang="ko-KR" altLang="en-US" sz="4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33400" y="4805562"/>
            <a:ext cx="7854696" cy="1151414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/>
              <a:t>2025. 11. 13</a:t>
            </a:r>
          </a:p>
          <a:p>
            <a:pPr algn="ctr"/>
            <a:r>
              <a:rPr lang="ko-KR" altLang="en-US" sz="2000" dirty="0" err="1"/>
              <a:t>팀명</a:t>
            </a:r>
            <a:r>
              <a:rPr lang="en-US" altLang="ko-KR" sz="2000" dirty="0"/>
              <a:t>: TEAM110010100</a:t>
            </a:r>
          </a:p>
          <a:p>
            <a:pPr algn="ctr"/>
            <a:r>
              <a:rPr lang="ko-KR" altLang="en-US" sz="2000" dirty="0"/>
              <a:t>팀원</a:t>
            </a:r>
            <a:r>
              <a:rPr lang="en-US" altLang="ko-KR" sz="2000" dirty="0"/>
              <a:t>: </a:t>
            </a:r>
            <a:r>
              <a:rPr lang="ko-KR" altLang="en-US" sz="2000" dirty="0"/>
              <a:t>이재서</a:t>
            </a:r>
            <a:r>
              <a:rPr lang="en-US" altLang="ko-KR" sz="2000" dirty="0"/>
              <a:t>, </a:t>
            </a:r>
            <a:r>
              <a:rPr lang="ko-KR" altLang="en-US" sz="2000" dirty="0"/>
              <a:t>최준서</a:t>
            </a:r>
            <a:r>
              <a:rPr lang="en-US" altLang="ko-KR" sz="2000" dirty="0"/>
              <a:t>, </a:t>
            </a:r>
            <a:r>
              <a:rPr lang="ko-KR" altLang="en-US" sz="2000" dirty="0"/>
              <a:t>엄예준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박주혁</a:t>
            </a:r>
            <a:endParaRPr lang="ko-KR" altLang="en-US" sz="2000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534924" y="2728896"/>
            <a:ext cx="7851648" cy="153068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5600" b="1" kern="120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3600" dirty="0"/>
              <a:t>중간보고서</a:t>
            </a:r>
            <a:endParaRPr lang="en-US" altLang="ko-KR" sz="3600" dirty="0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3600" dirty="0"/>
              <a:t>캠퍼스 내 불편사항 신고 시스템</a:t>
            </a:r>
          </a:p>
        </p:txBody>
      </p:sp>
    </p:spTree>
    <p:extLst>
      <p:ext uri="{BB962C8B-B14F-4D97-AF65-F5344CB8AC3E}">
        <p14:creationId xmlns:p14="http://schemas.microsoft.com/office/powerpoint/2010/main" val="346845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개발 배경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/>
              <a:t>캠퍼스 내 불편사항이 있는 경우</a:t>
            </a:r>
            <a:r>
              <a:rPr lang="en-US" altLang="ko-KR" dirty="0"/>
              <a:t>, </a:t>
            </a:r>
            <a:r>
              <a:rPr lang="ko-KR" altLang="en-US" dirty="0"/>
              <a:t>이를 해결하기 위한 방법이 마땅치 않아 불편사항을 계속 겪으면서 조치가 될 때까지 마냥 기다리는 경우가 많음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이런 일을 종종 겪다 보니 사용자가 간편하게 신고하면 담당 부서에서 즉시 확인하고 빠른 시일 내에 조치를 받을 수 있는 방법이 없을까 하며 생각하게 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개발 목표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/>
              <a:t>사용자가 불편사항에 대한 내용을 간편하게 텍스트로 작성하거나 사진</a:t>
            </a:r>
            <a:r>
              <a:rPr lang="en-US" altLang="ko-KR" dirty="0"/>
              <a:t>, </a:t>
            </a:r>
            <a:r>
              <a:rPr lang="ko-KR" altLang="en-US" dirty="0"/>
              <a:t>동영상 등을 통해 신고 내용을 작성하면 해당 부서 담당자에게 알림이 </a:t>
            </a:r>
            <a:r>
              <a:rPr lang="ko-KR" altLang="en-US"/>
              <a:t>전송되며 담당자가 업무처리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55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시스템과의 차별성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국립목포해양대학교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불편사항신고 및 컴퓨터 </a:t>
            </a:r>
            <a:r>
              <a:rPr lang="en-US" altLang="ko-KR" dirty="0"/>
              <a:t>119 </a:t>
            </a:r>
            <a:r>
              <a:rPr lang="ko-KR" altLang="en-US" dirty="0"/>
              <a:t>게시판</a:t>
            </a:r>
            <a:endParaRPr lang="en-US" altLang="ko-KR" dirty="0"/>
          </a:p>
          <a:p>
            <a:pPr lvl="1"/>
            <a:r>
              <a:rPr lang="ko-KR" altLang="en-US" dirty="0"/>
              <a:t>기숙사 시설물 혹은</a:t>
            </a:r>
            <a:r>
              <a:rPr lang="en-US" altLang="ko-KR" dirty="0"/>
              <a:t> </a:t>
            </a:r>
            <a:r>
              <a:rPr lang="ko-KR" altLang="en-US" dirty="0"/>
              <a:t>인터넷 문제 등을 신고하는 게시판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한계</a:t>
            </a:r>
            <a:endParaRPr lang="en-US" altLang="ko-KR" dirty="0"/>
          </a:p>
          <a:p>
            <a:pPr lvl="1"/>
            <a:r>
              <a:rPr lang="ko-KR" altLang="en-US" dirty="0"/>
              <a:t>자동 분류</a:t>
            </a:r>
            <a:r>
              <a:rPr lang="en-US" altLang="ko-KR" dirty="0"/>
              <a:t>, </a:t>
            </a:r>
            <a:r>
              <a:rPr lang="ko-KR" altLang="en-US" dirty="0"/>
              <a:t>이미지 첨부 등과 같은 기능 미지원</a:t>
            </a:r>
            <a:endParaRPr lang="en-US" altLang="ko-KR" dirty="0"/>
          </a:p>
          <a:p>
            <a:pPr lvl="1"/>
            <a:r>
              <a:rPr lang="ko-KR" altLang="en-US" dirty="0"/>
              <a:t>홈페이지 게시판 형태로 운영되기 때문에 모바일로 신고하기 불편</a:t>
            </a:r>
            <a:endParaRPr lang="en-US" altLang="ko-KR" dirty="0"/>
          </a:p>
          <a:p>
            <a:pPr lvl="1"/>
            <a:r>
              <a:rPr lang="ko-KR" altLang="en-US" dirty="0"/>
              <a:t>처리 결과를 확인하기 위해서는 웹 페이지 방문이 필수적</a:t>
            </a:r>
            <a:endParaRPr lang="en-US" altLang="ko-KR" dirty="0"/>
          </a:p>
          <a:p>
            <a:pPr lvl="1"/>
            <a:r>
              <a:rPr lang="ko-KR" altLang="en-US" dirty="0"/>
              <a:t>신고할 수 있는 종류가 많지 않음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시설물이나 공유기 문제를 주로 다룸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5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구성도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A81ABE-4724-6C2A-5E85-E674A6C59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350"/>
            <a:ext cx="9144000" cy="417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0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9E321-D32E-C686-67C4-6531EC0F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Use Case Diagram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55E634-6AD1-0EAD-29C2-5CBEDC01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452E3C-CFED-8F40-56FC-91218F15B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370726A4-9D03-9FEF-2684-24A238851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669" y="1266825"/>
            <a:ext cx="7706662" cy="505777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5293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주요 클래스 또는 함수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30DAEA8-EC88-26FC-ADE3-32A23343A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0462"/>
            <a:ext cx="7924800" cy="50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1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핵심 개발 기술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자동 분류 및 부서 라우팅</a:t>
            </a:r>
            <a:endParaRPr lang="en-US" altLang="ko-KR" dirty="0"/>
          </a:p>
          <a:p>
            <a:pPr lvl="1"/>
            <a:r>
              <a:rPr lang="ko-KR" altLang="en-US" dirty="0"/>
              <a:t>기계학습 기반 </a:t>
            </a:r>
            <a:r>
              <a:rPr lang="en-US" altLang="ko-KR" dirty="0"/>
              <a:t>SVM(TF-IDF) </a:t>
            </a:r>
            <a:r>
              <a:rPr lang="ko-KR" altLang="en-US" dirty="0"/>
              <a:t>분류기</a:t>
            </a:r>
            <a:endParaRPr lang="en-US" altLang="ko-KR" dirty="0"/>
          </a:p>
          <a:p>
            <a:pPr lvl="2"/>
            <a:r>
              <a:rPr lang="ko-KR" altLang="en-US" dirty="0"/>
              <a:t>한국어 문장을 정제 후 벡터화 하여 </a:t>
            </a:r>
            <a:r>
              <a:rPr lang="en-US" altLang="ko-KR" dirty="0" err="1"/>
              <a:t>LinearSVC</a:t>
            </a:r>
            <a:r>
              <a:rPr lang="en-US" altLang="ko-KR" dirty="0"/>
              <a:t> </a:t>
            </a:r>
            <a:r>
              <a:rPr lang="ko-KR" altLang="en-US" dirty="0"/>
              <a:t>모델 학습</a:t>
            </a:r>
            <a:endParaRPr lang="en-US" altLang="ko-KR" dirty="0"/>
          </a:p>
          <a:p>
            <a:pPr lvl="2"/>
            <a:r>
              <a:rPr lang="ko-KR" altLang="en-US" dirty="0"/>
              <a:t>학습된 벡터와 모델을 저장 후 정확도</a:t>
            </a:r>
            <a:r>
              <a:rPr lang="en-US" altLang="ko-KR" dirty="0"/>
              <a:t>, F1 </a:t>
            </a:r>
            <a:r>
              <a:rPr lang="ko-KR" altLang="en-US" dirty="0"/>
              <a:t>점수 계산 등을 통해 모델 성능을 측정</a:t>
            </a:r>
            <a:r>
              <a:rPr lang="en-US" altLang="ko-KR" dirty="0"/>
              <a:t>(</a:t>
            </a:r>
            <a:r>
              <a:rPr lang="ko-KR" altLang="en-US" dirty="0"/>
              <a:t>통계적 알고리즘 기반 자연어 분류기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목표 부서 목록 중에서 </a:t>
            </a:r>
            <a:r>
              <a:rPr lang="en-US" altLang="ko-KR" dirty="0"/>
              <a:t>F1 </a:t>
            </a:r>
            <a:r>
              <a:rPr lang="ko-KR" altLang="en-US" dirty="0"/>
              <a:t>점수가 가장 높은 것을 선택</a:t>
            </a:r>
            <a:endParaRPr lang="en-US" altLang="ko-KR" dirty="0"/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 기반 보조 분류기</a:t>
            </a:r>
            <a:endParaRPr lang="en-US" altLang="ko-KR" dirty="0"/>
          </a:p>
          <a:p>
            <a:pPr lvl="2"/>
            <a:r>
              <a:rPr lang="en-US" altLang="ko-KR" dirty="0"/>
              <a:t>SVM </a:t>
            </a:r>
            <a:r>
              <a:rPr lang="ko-KR" altLang="en-US" dirty="0"/>
              <a:t>모델로 </a:t>
            </a:r>
            <a:r>
              <a:rPr lang="en-US" altLang="ko-KR" dirty="0"/>
              <a:t>1</a:t>
            </a:r>
            <a:r>
              <a:rPr lang="ko-KR" altLang="en-US" dirty="0"/>
              <a:t>차 분류를 진행</a:t>
            </a:r>
            <a:endParaRPr lang="en-US" altLang="ko-KR" dirty="0"/>
          </a:p>
          <a:p>
            <a:pPr lvl="2"/>
            <a:r>
              <a:rPr lang="ko-KR" altLang="en-US" dirty="0"/>
              <a:t>신뢰도가 낮으면 </a:t>
            </a:r>
            <a:r>
              <a:rPr lang="en-US" altLang="ko-KR" dirty="0"/>
              <a:t>LLM </a:t>
            </a:r>
            <a:r>
              <a:rPr lang="ko-KR" altLang="en-US" dirty="0"/>
              <a:t>모델을 호출 후 </a:t>
            </a:r>
            <a:r>
              <a:rPr lang="en-US" altLang="ko-KR" dirty="0"/>
              <a:t>Gemini API</a:t>
            </a:r>
            <a:r>
              <a:rPr lang="ko-KR" altLang="en-US" dirty="0"/>
              <a:t>를 통해 추론</a:t>
            </a:r>
            <a:endParaRPr lang="en-US" altLang="ko-KR" dirty="0"/>
          </a:p>
          <a:p>
            <a:pPr lvl="2"/>
            <a:r>
              <a:rPr lang="en-US" altLang="ko-KR" dirty="0"/>
              <a:t>LLM </a:t>
            </a:r>
            <a:r>
              <a:rPr lang="ko-KR" altLang="en-US" dirty="0"/>
              <a:t>모델이 </a:t>
            </a:r>
            <a:r>
              <a:rPr lang="en-US" altLang="ko-KR" dirty="0"/>
              <a:t>JSON </a:t>
            </a:r>
            <a:r>
              <a:rPr lang="ko-KR" altLang="en-US" dirty="0"/>
              <a:t>응답을 </a:t>
            </a:r>
            <a:r>
              <a:rPr lang="ko-KR" altLang="en-US" dirty="0" err="1"/>
              <a:t>파싱해서</a:t>
            </a:r>
            <a:r>
              <a:rPr lang="ko-KR" altLang="en-US" dirty="0"/>
              <a:t> 원인과 근거에 </a:t>
            </a:r>
            <a:r>
              <a:rPr lang="ko-KR" altLang="en-US" dirty="0" err="1"/>
              <a:t>바탕하여</a:t>
            </a:r>
            <a:r>
              <a:rPr lang="ko-KR" altLang="en-US" dirty="0"/>
              <a:t> 결과 출력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80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162BB-F688-08A7-C4F2-84B9C4B3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외부 라이브러리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A95559-A5E0-3FC9-6590-1E4F035C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389D7B-F951-BA26-E762-F3D14E4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6CB5C85-F5ED-5382-DC35-725B304C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2932"/>
            <a:ext cx="8245736" cy="52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0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중간 개발 코드 크기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0397E5-98B2-FBD8-1693-24CDF84A3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3" y="1304795"/>
            <a:ext cx="8912974" cy="453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7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실행화면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20" name="내용 개체 틀 19">
            <a:extLst>
              <a:ext uri="{FF2B5EF4-FFF2-40B4-BE49-F238E27FC236}">
                <a16:creationId xmlns:a16="http://schemas.microsoft.com/office/drawing/2014/main" id="{7C42E1E9-65F7-BD09-1777-A5C7D7111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07954"/>
            <a:ext cx="555202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7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E00D-3112-89C2-D4A3-B766E608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68DE8-FCA1-3B65-2742-9FECAA25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실행화면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A1E2FF-BC88-6DB8-D7F8-26AC4A49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9041EF-D528-C091-E430-85194022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6E706E5-9AE4-E9EC-74B8-BDE816D9B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161" y="1307954"/>
            <a:ext cx="5448639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59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A714-5834-97C2-89B8-3D30117A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134E5-EDEF-7720-22CF-2E1C942B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실행화면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2ADAC5-2B10-100A-EDFF-66932C98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6CCA82-7358-5003-8B0B-E68266E4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924BB11-C37B-0F91-D8B6-C259D6289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74479"/>
            <a:ext cx="6193034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40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9038-1015-506C-393C-A34F446D0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FB58E-BE46-2472-4ED7-0E1A8868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실행화면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52FBA2-58BB-0FD2-66D3-88D262D0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25667B-44A2-D477-A93D-3DB7AC99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BF55336-746B-63D2-7F96-60E500EE8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74479"/>
            <a:ext cx="6539512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50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B432-50EB-A523-F241-64C982B3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051E6-6205-0AD9-E390-BFA93B5B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실행화면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72D090-0E8E-D6D9-49BE-32D97441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AE5142-1404-C817-8742-EA4B72B5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E29DFD3-BB69-2A82-CD7C-6B9EA469F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238" y="1174480"/>
            <a:ext cx="7466562" cy="48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50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B2096-FA27-ED1F-715C-50AA23BC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데이터베이스 테이블 또는 파일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809332E-989E-3676-2F27-AD722CF3E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9835" y="2365209"/>
            <a:ext cx="4944165" cy="1190791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460B29-43A3-065E-15B8-BD044929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86316D-9985-D25C-80AC-9F433F87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CBA83E07-D5DA-B652-18D6-D07847058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351996"/>
            <a:ext cx="3873500" cy="378982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85719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FA45-97B3-F24A-BFCE-29BEB7D1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E3CB0-E0FC-E74C-1379-719C20F4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데이터베이스 테이블 또는 파일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9FEB6C-C980-711F-37B5-A4FFFD05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FC4BD4-D1F6-3B4E-670A-34AF4806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1CB0B33-ECF2-C445-30F6-A8D50AF93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307954"/>
            <a:ext cx="4303012" cy="47603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BC800F5-93B5-6738-BE84-51B0307B1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475" y="1307954"/>
            <a:ext cx="3628989" cy="461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91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C041-9844-F941-DD2D-190FA9B87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93599-94D5-9906-6578-1FE7E285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데이터베이스 테이블 또는 파일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40576C-65CF-B044-8898-06E33110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51977F-99B0-B768-E79B-540A2E81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42A5B8E-F832-1004-1DD5-FB013E445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74479"/>
            <a:ext cx="4795634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14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15D1E-9CE2-E8D6-4B16-EF5B349B9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</a:t>
            </a:r>
            <a:r>
              <a:rPr lang="en-US" altLang="ko-KR"/>
              <a:t>github repo. </a:t>
            </a:r>
            <a:r>
              <a:rPr lang="ko-KR" altLang="en-US"/>
              <a:t>메인화면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2D7371-538F-EDF9-B4B0-A55D3449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소프트웨어공학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1E679B-A6A4-E8C1-8D99-CF42D2C7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C268-C3E8-4101-AE3B-AD777EB12DDA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6" name="내용 개체 틀 6">
            <a:extLst>
              <a:ext uri="{FF2B5EF4-FFF2-40B4-BE49-F238E27FC236}">
                <a16:creationId xmlns:a16="http://schemas.microsoft.com/office/drawing/2014/main" id="{7F2109EC-AF75-35D5-A877-CD97782FA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75554"/>
            <a:ext cx="8229600" cy="4640317"/>
          </a:xfrm>
        </p:spPr>
      </p:pic>
    </p:spTree>
    <p:extLst>
      <p:ext uri="{BB962C8B-B14F-4D97-AF65-F5344CB8AC3E}">
        <p14:creationId xmlns:p14="http://schemas.microsoft.com/office/powerpoint/2010/main" val="9448595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흐름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흐름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1275</TotalTime>
  <Words>319</Words>
  <Application>Microsoft Office PowerPoint</Application>
  <PresentationFormat>화면 슬라이드 쇼(4:3)</PresentationFormat>
  <Paragraphs>79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Calibri</vt:lpstr>
      <vt:lpstr>Constantia</vt:lpstr>
      <vt:lpstr>Wingdings 2</vt:lpstr>
      <vt:lpstr>흐름</vt:lpstr>
      <vt:lpstr>소프트웨어공학</vt:lpstr>
      <vt:lpstr>시스템 개요</vt:lpstr>
      <vt:lpstr>기존 시스템과의 차별성</vt:lpstr>
      <vt:lpstr>시스템 구성도</vt:lpstr>
      <vt:lpstr>Use Case Diagram</vt:lpstr>
      <vt:lpstr>주요 클래스 또는 함수</vt:lpstr>
      <vt:lpstr>핵심 개발 기술</vt:lpstr>
      <vt:lpstr>외부 라이브러리</vt:lpstr>
      <vt:lpstr>중간 개발 코드 크기</vt:lpstr>
      <vt:lpstr>실행화면</vt:lpstr>
      <vt:lpstr>실행화면</vt:lpstr>
      <vt:lpstr>실행화면</vt:lpstr>
      <vt:lpstr>실행화면</vt:lpstr>
      <vt:lpstr>실행화면</vt:lpstr>
      <vt:lpstr>데이터베이스 테이블 또는 파일</vt:lpstr>
      <vt:lpstr>데이터베이스 테이블 또는 파일</vt:lpstr>
      <vt:lpstr>데이터베이스 테이블 또는 파일</vt:lpstr>
      <vt:lpstr>프로젝트 github repo. 메인화면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Java및실습</dc:title>
  <dc:creator>user</dc:creator>
  <cp:lastModifiedBy>이재서</cp:lastModifiedBy>
  <cp:revision>411</cp:revision>
  <dcterms:created xsi:type="dcterms:W3CDTF">2015-08-31T01:34:35Z</dcterms:created>
  <dcterms:modified xsi:type="dcterms:W3CDTF">2025-11-11T22:33:00Z</dcterms:modified>
</cp:coreProperties>
</file>